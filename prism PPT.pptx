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edhra-S/prism-agentic-code-retrieval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dhra-S/prism-agentic-code-retrieva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dhra-S/prism-agentic-code-retrieva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532D92"/>
                </a:solidFill>
                <a:latin typeface="Aptos"/>
              </a:rPr>
              <a:t>SAMSUNG PRISM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3017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E1F32"/>
                </a:solidFill>
                <a:latin typeface="Aptos Display"/>
              </a:rP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3017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532D92"/>
                </a:solidFill>
                <a:latin typeface="Aptos Display"/>
              </a:rPr>
              <a:t>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46504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6479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532D92"/>
                </a:solidFill>
                <a:latin typeface="Aptos"/>
              </a:rPr>
              <a:t>3rd Edition  •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36935"/>
            <a:ext cx="5303520" cy="837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sz="2800" b="1" dirty="0"/>
              <a:t>CodeLens-R</a:t>
            </a:r>
            <a:br>
              <a:rPr lang="en-IN" sz="2800" dirty="0"/>
            </a:br>
            <a:r>
              <a:rPr lang="en-IN" sz="2400" i="1" dirty="0"/>
              <a:t>Version-Aware Multi-View Code Retrieval</a:t>
            </a:r>
            <a:endParaRPr sz="2400" b="1" i="0" dirty="0">
              <a:solidFill>
                <a:srgbClr val="1E1F32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491151"/>
            <a:ext cx="5349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6697D"/>
                </a:solidFill>
                <a:latin typeface="Aptos"/>
              </a:rPr>
              <a:t>Natural language  →  focused query views  →  ranked code snippets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04487"/>
            <a:ext cx="3246120" cy="32918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922775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1AA0A0"/>
                </a:solidFill>
                <a:latin typeface="Aptos"/>
              </a:rPr>
              <a:t>THEME 01  •  AGENTIC CODE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3484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626864"/>
            <a:ext cx="14630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TEAM RINITA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4589" y="4616250"/>
            <a:ext cx="2266406" cy="185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IN" sz="950" b="1" dirty="0">
                <a:solidFill>
                  <a:srgbClr val="66697D"/>
                </a:solidFill>
                <a:latin typeface="Aptos"/>
              </a:rPr>
              <a:t>Vellore Institute of </a:t>
            </a:r>
            <a:r>
              <a:rPr lang="en-IN" sz="950" b="1" dirty="0" err="1">
                <a:solidFill>
                  <a:srgbClr val="66697D"/>
                </a:solidFill>
                <a:latin typeface="Aptos"/>
              </a:rPr>
              <a:t>Technology,Vellore</a:t>
            </a:r>
            <a:endParaRPr lang="en-IN" sz="950" b="1" dirty="0">
              <a:solidFill>
                <a:srgbClr val="66697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892040"/>
            <a:ext cx="47548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 dirty="0" err="1">
                <a:solidFill>
                  <a:srgbClr val="1E1F32"/>
                </a:solidFill>
                <a:latin typeface="Aptos"/>
              </a:rPr>
              <a:t>Nedhra</a:t>
            </a:r>
            <a:r>
              <a:rPr sz="960" b="0" i="0" dirty="0">
                <a:solidFill>
                  <a:srgbClr val="1E1F32"/>
                </a:solidFill>
                <a:latin typeface="Aptos"/>
              </a:rPr>
              <a:t> S  •  nedhra.s2024@vitstudent.ac.in
E.M. Tarangini  •  tarangini.em2024@vitstudent.ac.in
</a:t>
            </a:r>
            <a:r>
              <a:rPr sz="960" b="0" i="0" dirty="0" err="1">
                <a:solidFill>
                  <a:srgbClr val="1E1F32"/>
                </a:solidFill>
                <a:latin typeface="Aptos"/>
              </a:rPr>
              <a:t>Dhevarithanya.KC</a:t>
            </a:r>
            <a:r>
              <a:rPr sz="960" b="0" i="0" dirty="0">
                <a:solidFill>
                  <a:srgbClr val="1E1F32"/>
                </a:solidFill>
                <a:latin typeface="Aptos"/>
              </a:rPr>
              <a:t>  •  dhevarithanya.kc2024@vitstudent.ac.in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685800" y="5852160"/>
            <a:ext cx="5623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532D92"/>
                </a:solidFill>
                <a:latin typeface="Aptos"/>
              </a:rPr>
              <a:t>github.com/Nedhra-S/prism-agentic-code-retrieval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685800"/>
            <a:ext cx="466344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ris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960120"/>
            <a:ext cx="3566160" cy="35661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754112" y="4800600"/>
            <a:ext cx="1508760" cy="30175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54112" y="4818888"/>
            <a:ext cx="1508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532D92"/>
                </a:solidFill>
                <a:latin typeface="Aptos"/>
              </a:rPr>
              <a:t>RETRIEVAL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5221224"/>
            <a:ext cx="36576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66697D"/>
                </a:solidFill>
                <a:latin typeface="Aptos"/>
              </a:rPr>
              <a:t>No generated answer  •  rank existing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5532120"/>
            <a:ext cx="3703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6697D"/>
                </a:solidFill>
                <a:latin typeface="Aptos"/>
              </a:rPr>
              <a:t>CPU-oriented  •  dense retrieval  •  version-aware indexing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What the task asks us to solve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417320"/>
            <a:ext cx="960120" cy="28346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35608"/>
            <a:ext cx="960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AA0A0"/>
                </a:solidFill>
                <a:latin typeface="Aptos"/>
              </a:rPr>
              <a:t>CORE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52578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E1F32"/>
                </a:solidFill>
                <a:latin typeface="Aptos Display"/>
              </a:rPr>
              <a:t>Theme 01 — Agentic Code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331720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" y="2331720"/>
            <a:ext cx="64008" cy="1170432"/>
          </a:xfrm>
          <a:prstGeom prst="rect">
            <a:avLst/>
          </a:prstGeom>
          <a:solidFill>
            <a:srgbClr val="703FBE"/>
          </a:solidFill>
          <a:ln>
            <a:solidFill>
              <a:srgbClr val="703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459736"/>
            <a:ext cx="502920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703FBE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15768"/>
            <a:ext cx="5029200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40" b="0" i="0">
                <a:solidFill>
                  <a:srgbClr val="1E1F32"/>
                </a:solidFill>
                <a:latin typeface="Aptos"/>
              </a:rPr>
              <a:t>Given a natural-language programming problem and a code library, retrieve and rank the most relevant existing snippets.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70332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" y="3703320"/>
            <a:ext cx="64008" cy="1051560"/>
          </a:xfrm>
          <a:prstGeom prst="rect">
            <a:avLst/>
          </a:prstGeom>
          <a:solidFill>
            <a:srgbClr val="1AA0A0"/>
          </a:solidFill>
          <a:ln>
            <a:solidFill>
              <a:srgbClr val="1A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31335"/>
            <a:ext cx="502920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1AA0A0"/>
                </a:solidFill>
                <a:latin typeface="Aptos"/>
              </a:rPr>
              <a:t>WHY 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87368"/>
            <a:ext cx="5029200" cy="5486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60" b="0" i="0">
                <a:solidFill>
                  <a:srgbClr val="1E1F32"/>
                </a:solidFill>
                <a:latin typeface="Aptos"/>
              </a:rPr>
              <a:t>Task intent, input details, constraints and output requirements are mixed together in long programming queries.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956048"/>
            <a:ext cx="5349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" y="4956048"/>
            <a:ext cx="64008" cy="841248"/>
          </a:xfrm>
          <a:prstGeom prst="rect">
            <a:avLst/>
          </a:prstGeom>
          <a:solidFill>
            <a:srgbClr val="3A5CC8"/>
          </a:solidFill>
          <a:ln>
            <a:solidFill>
              <a:srgbClr val="3A5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84064"/>
            <a:ext cx="502920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3A5CC8"/>
                </a:solidFill>
                <a:latin typeface="Aptos"/>
              </a:rPr>
              <a:t>DESIGN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40096"/>
            <a:ext cx="5029200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40" b="0" i="0">
                <a:solidFill>
                  <a:srgbClr val="1E1F32"/>
                </a:solidFill>
                <a:latin typeface="Aptos"/>
              </a:rPr>
              <a:t>Improve retrieval quality without using a generative LLM to answer the query.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325880"/>
            <a:ext cx="4590288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95160" y="1572768"/>
            <a:ext cx="1417320" cy="28346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1591056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532D92"/>
                </a:solidFill>
                <a:latin typeface="Aptos"/>
              </a:rPr>
              <a:t>TARGET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2148840"/>
            <a:ext cx="384048" cy="384048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216712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57984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1F32"/>
                </a:solidFill>
                <a:latin typeface="Aptos"/>
              </a:rPr>
              <a:t>Natural-language query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78624" y="2542032"/>
            <a:ext cx="0" cy="429768"/>
          </a:xfrm>
          <a:prstGeom prst="line">
            <a:avLst/>
          </a:prstGeom>
          <a:ln w="1524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86600" y="3063240"/>
            <a:ext cx="384048" cy="384048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308152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72384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1F32"/>
                </a:solidFill>
                <a:latin typeface="Aptos"/>
              </a:rPr>
              <a:t>Retrieve candidate snippets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78624" y="3456432"/>
            <a:ext cx="0" cy="429768"/>
          </a:xfrm>
          <a:prstGeom prst="line">
            <a:avLst/>
          </a:prstGeom>
          <a:ln w="1524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086600" y="3977639"/>
            <a:ext cx="384048" cy="384048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3995927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986783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1F32"/>
                </a:solidFill>
                <a:latin typeface="Aptos"/>
              </a:rPr>
              <a:t>Rank by relevance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78624" y="4370831"/>
            <a:ext cx="0" cy="429769"/>
          </a:xfrm>
          <a:prstGeom prst="line">
            <a:avLst/>
          </a:prstGeom>
          <a:ln w="1524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086600" y="4892040"/>
            <a:ext cx="384048" cy="384048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4910327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901183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1F32"/>
                </a:solidFill>
                <a:latin typeface="Aptos"/>
              </a:rPr>
              <a:t>Return Top-K existing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76872" y="5724144"/>
            <a:ext cx="3703320" cy="310896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76872" y="5742431"/>
            <a:ext cx="3703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1" i="0">
                <a:solidFill>
                  <a:srgbClr val="1AA0A0"/>
                </a:solidFill>
                <a:latin typeface="Aptos"/>
              </a:rPr>
              <a:t>Benchmark: retrieval accuracy • NDCG@10 • MRR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Existing Solutions &amp;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Development experiments informed the final representation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2194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1344168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WHAT WE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344168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344168"/>
            <a:ext cx="32735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TAKEAWAY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755648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1755648"/>
            <a:ext cx="2359152" cy="749808"/>
          </a:xfrm>
          <a:prstGeom prst="rect">
            <a:avLst/>
          </a:prstGeom>
          <a:solidFill>
            <a:srgbClr val="EFE9FC"/>
          </a:solidFill>
          <a:ln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865376"/>
            <a:ext cx="2057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E1F32"/>
                </a:solidFill>
                <a:latin typeface="Aptos"/>
              </a:rPr>
              <a:t>Single dense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47088"/>
            <a:ext cx="23957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Whole problem → one vector. Baseline NDCG@10 = 0.0660.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1965960"/>
            <a:ext cx="1463040" cy="283464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0448" y="1984248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66697D"/>
                </a:solidFill>
                <a:latin typeface="Aptos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1847088"/>
            <a:ext cx="306324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Simple and fast, but long-query signals are compressed.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69748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8" y="2697480"/>
            <a:ext cx="2359152" cy="749808"/>
          </a:xfrm>
          <a:prstGeom prst="rect">
            <a:avLst/>
          </a:prstGeom>
          <a:solidFill>
            <a:srgbClr val="F2F3F7"/>
          </a:solidFill>
          <a:ln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807208"/>
            <a:ext cx="2057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E1F32"/>
                </a:solidFill>
                <a:latin typeface="Aptos"/>
              </a:rPr>
              <a:t>BM25 + dense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88920"/>
            <a:ext cx="23957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Fixed lexical+dense fusion did not consistently improve the dense baseline.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2907792"/>
            <a:ext cx="1463040" cy="283464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2926080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66697D"/>
                </a:solidFill>
                <a:latin typeface="Aptos"/>
              </a:rPr>
              <a:t>NOT 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2788920"/>
            <a:ext cx="306324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A strong semantic match could be pushed down.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639312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3639312"/>
            <a:ext cx="2359152" cy="749808"/>
          </a:xfrm>
          <a:prstGeom prst="rect">
            <a:avLst/>
          </a:prstGeom>
          <a:solidFill>
            <a:srgbClr val="F2F3F7"/>
          </a:solidFill>
          <a:ln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749039"/>
            <a:ext cx="2057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E1F32"/>
                </a:solidFill>
                <a:latin typeface="Aptos"/>
              </a:rPr>
              <a:t>Rule-based categorization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730752"/>
            <a:ext cx="23957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Long programming statements often triggered multiple/incorrect categories.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3849624"/>
            <a:ext cx="1463040" cy="283464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0448" y="3867911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66697D"/>
                </a:solidFill>
                <a:latin typeface="Aptos"/>
              </a:rPr>
              <a:t>NOT SELECTED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730752"/>
            <a:ext cx="306324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Routing became brittle for benchmark-style queries.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81144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8" y="4581144"/>
            <a:ext cx="2359152" cy="749808"/>
          </a:xfrm>
          <a:prstGeom prst="rect">
            <a:avLst/>
          </a:prstGeom>
          <a:solidFill>
            <a:srgbClr val="E5F6F5"/>
          </a:solidFill>
          <a:ln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690872"/>
            <a:ext cx="2057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E1F32"/>
                </a:solidFill>
                <a:latin typeface="Aptos"/>
              </a:rPr>
              <a:t>Core / Input / Output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672583"/>
            <a:ext cx="2395728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Separate query views improved the benchmark result with fixed training-selected weights.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4791456"/>
            <a:ext cx="1463040" cy="28346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70448" y="4809744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1AA0A0"/>
                </a:solidFill>
                <a:latin typeface="Aptos"/>
              </a:rPr>
              <a:t>SELECTED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4672583"/>
            <a:ext cx="306324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Keeps task intent and input/output evidence explicit.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797296"/>
            <a:ext cx="10396728" cy="38404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" y="5897880"/>
            <a:ext cx="10104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70" b="1" i="0">
                <a:solidFill>
                  <a:srgbClr val="1AA0A0"/>
                </a:solidFill>
                <a:latin typeface="Aptos"/>
              </a:rPr>
              <a:t>Key takeaway: the final method was selected from measured experiments, not from a single untested idea.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Our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Two layers: problem-focused retrieval + version-aware incremental indexing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61872"/>
            <a:ext cx="1554480" cy="30175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1" i="0">
                <a:solidFill>
                  <a:srgbClr val="532D92"/>
                </a:solidFill>
                <a:latin typeface="Aptos"/>
              </a:rPr>
              <a:t>P0  •  RETRIEVAL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55648"/>
            <a:ext cx="1572768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532D92"/>
                </a:solidFill>
                <a:latin typeface="Aptos"/>
              </a:rPr>
              <a:t>INPUT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185416"/>
            <a:ext cx="1399032" cy="61754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10" b="1" i="0" dirty="0">
                <a:solidFill>
                  <a:srgbClr val="1E1F32"/>
                </a:solidFill>
                <a:latin typeface="Aptos"/>
              </a:rPr>
              <a:t>Natural-language
programming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755648"/>
            <a:ext cx="1188720" cy="98755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762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8064" y="1901952"/>
            <a:ext cx="1042415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532D92"/>
                </a:solidFill>
                <a:latin typeface="Aptos"/>
              </a:rP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2176272"/>
            <a:ext cx="104241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1E1F32"/>
                </a:solidFill>
                <a:latin typeface="Aptos"/>
              </a:rPr>
              <a:t>Main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85292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66697D"/>
                </a:solidFill>
                <a:latin typeface="Aptos"/>
              </a:rPr>
              <a:t>Embed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19272" y="2752344"/>
            <a:ext cx="0" cy="155448"/>
          </a:xfrm>
          <a:prstGeom prst="line">
            <a:avLst/>
          </a:prstGeom>
          <a:ln w="1270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05656" y="1755648"/>
            <a:ext cx="1188720" cy="98755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762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78808" y="1901952"/>
            <a:ext cx="1042415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1AA0A0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176272"/>
            <a:ext cx="104241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1E1F32"/>
                </a:solidFill>
                <a:latin typeface="Aptos"/>
              </a:rPr>
              <a:t>Input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285292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66697D"/>
                </a:solidFill>
                <a:latin typeface="Aptos"/>
              </a:rPr>
              <a:t>Embed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0016" y="2752344"/>
            <a:ext cx="0" cy="155448"/>
          </a:xfrm>
          <a:prstGeom prst="line">
            <a:avLst/>
          </a:prstGeom>
          <a:ln w="1270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0" y="1755648"/>
            <a:ext cx="1188720" cy="987552"/>
          </a:xfrm>
          <a:prstGeom prst="roundRect">
            <a:avLst>
              <a:gd name="adj" fmla="val 8000"/>
            </a:avLst>
          </a:prstGeom>
          <a:solidFill>
            <a:srgbClr val="E9EFFD"/>
          </a:solidFill>
          <a:ln w="7620"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59552" y="1901952"/>
            <a:ext cx="1042415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3A5CC8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2176272"/>
            <a:ext cx="104241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1E1F32"/>
                </a:solidFill>
                <a:latin typeface="Aptos"/>
              </a:rPr>
              <a:t>Required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85292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66697D"/>
                </a:solidFill>
                <a:latin typeface="Aptos"/>
              </a:rPr>
              <a:t>Embed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752344"/>
            <a:ext cx="0" cy="155448"/>
          </a:xfrm>
          <a:prstGeom prst="line">
            <a:avLst/>
          </a:prstGeom>
          <a:ln w="1270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04288" y="2249424"/>
            <a:ext cx="420624" cy="0"/>
          </a:xfrm>
          <a:prstGeom prst="line">
            <a:avLst/>
          </a:prstGeom>
          <a:ln w="1397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13632" y="2249424"/>
            <a:ext cx="192024" cy="0"/>
          </a:xfrm>
          <a:prstGeom prst="line">
            <a:avLst/>
          </a:prstGeom>
          <a:ln w="1397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94376" y="2249424"/>
            <a:ext cx="192024" cy="0"/>
          </a:xfrm>
          <a:prstGeom prst="line">
            <a:avLst/>
          </a:prstGeom>
          <a:ln w="1397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5120" y="2249424"/>
            <a:ext cx="658368" cy="0"/>
          </a:xfrm>
          <a:prstGeom prst="line">
            <a:avLst/>
          </a:prstGeom>
          <a:ln w="1397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33488" y="1682496"/>
            <a:ext cx="1572768" cy="115214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889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9792" y="1856231"/>
            <a:ext cx="1280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532D92"/>
                </a:solidFill>
                <a:latin typeface="Aptos"/>
              </a:rPr>
              <a:t>WEIGHTED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157984"/>
            <a:ext cx="1207008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10" b="1" i="0">
                <a:solidFill>
                  <a:srgbClr val="1E1F32"/>
                </a:solidFill>
                <a:latin typeface="Aptos"/>
              </a:rPr>
              <a:t>0.50  CORE
0.25  INPUT
0.25 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8592" y="1755648"/>
            <a:ext cx="1700784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1920240"/>
            <a:ext cx="14813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532D92"/>
                </a:solidFill>
                <a:latin typeface="Aptos"/>
              </a:rPr>
              <a:t>SIMILARITY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194560"/>
            <a:ext cx="1298448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1F32"/>
                </a:solidFill>
                <a:latin typeface="Aptos"/>
              </a:rPr>
              <a:t>ranked code
snippets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06256" y="2249424"/>
            <a:ext cx="402336" cy="0"/>
          </a:xfrm>
          <a:prstGeom prst="line">
            <a:avLst/>
          </a:prstGeom>
          <a:ln w="21590">
            <a:solidFill>
              <a:srgbClr val="703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2688" y="3337559"/>
            <a:ext cx="5742432" cy="161423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70432" y="3547872"/>
            <a:ext cx="148132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32D92"/>
                </a:solidFill>
                <a:latin typeface="Aptos"/>
              </a:rPr>
              <a:t>Final query vector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3840480"/>
            <a:ext cx="48280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1" i="0" dirty="0" err="1">
                <a:solidFill>
                  <a:srgbClr val="1E1F32"/>
                </a:solidFill>
                <a:latin typeface="Aptos Mono"/>
              </a:rPr>
              <a:t>Qfinal</a:t>
            </a:r>
            <a:r>
              <a:rPr sz="1420" b="1" i="0" dirty="0">
                <a:solidFill>
                  <a:srgbClr val="1E1F32"/>
                </a:solidFill>
                <a:latin typeface="Aptos Mono"/>
              </a:rPr>
              <a:t>  =  0.50 </a:t>
            </a:r>
            <a:r>
              <a:rPr sz="1420" b="1" i="0" dirty="0" err="1">
                <a:solidFill>
                  <a:srgbClr val="1E1F32"/>
                </a:solidFill>
                <a:latin typeface="Aptos Mono"/>
              </a:rPr>
              <a:t>Qcore</a:t>
            </a:r>
            <a:r>
              <a:rPr sz="1420" b="1" i="0" dirty="0">
                <a:solidFill>
                  <a:srgbClr val="1E1F32"/>
                </a:solidFill>
                <a:latin typeface="Aptos Mono"/>
              </a:rPr>
              <a:t>  +  0.25 </a:t>
            </a:r>
            <a:r>
              <a:rPr sz="1420" b="1" i="0" dirty="0" err="1">
                <a:solidFill>
                  <a:srgbClr val="1E1F32"/>
                </a:solidFill>
                <a:latin typeface="Aptos Mono"/>
              </a:rPr>
              <a:t>Qinput</a:t>
            </a:r>
            <a:r>
              <a:rPr sz="1420" b="1" i="0" dirty="0">
                <a:solidFill>
                  <a:srgbClr val="1E1F32"/>
                </a:solidFill>
                <a:latin typeface="Aptos Mono"/>
              </a:rPr>
              <a:t>  +  0.25 </a:t>
            </a:r>
            <a:r>
              <a:rPr sz="1420" b="1" i="0" dirty="0" err="1">
                <a:solidFill>
                  <a:srgbClr val="1E1F32"/>
                </a:solidFill>
                <a:latin typeface="Aptos Mono"/>
              </a:rPr>
              <a:t>Qoutput</a:t>
            </a:r>
            <a:endParaRPr sz="1420" b="1" i="0" dirty="0">
              <a:solidFill>
                <a:srgbClr val="1E1F32"/>
              </a:solidFill>
              <a:latin typeface="Aptos Mon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48156" y="4560411"/>
            <a:ext cx="48280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 dirty="0">
                <a:solidFill>
                  <a:srgbClr val="66697D"/>
                </a:solidFill>
                <a:latin typeface="Aptos"/>
              </a:rPr>
              <a:t>Normalize after fusion  •  weights selected on training data, then frozen for 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14032" y="3310128"/>
            <a:ext cx="3602736" cy="30175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14032" y="3328416"/>
            <a:ext cx="36027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1AA0A0"/>
                </a:solidFill>
                <a:latin typeface="Aptos"/>
              </a:rPr>
              <a:t>P1  •  VERSION-AWARE INDEXING  •  IMPLEMENTED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14032" y="3703320"/>
            <a:ext cx="3995928" cy="152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296912" y="4005072"/>
            <a:ext cx="832104" cy="74980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0" y="4114800"/>
            <a:ext cx="795528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Code version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361688"/>
            <a:ext cx="7955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1E1F32"/>
                </a:solidFill>
                <a:latin typeface="Aptos"/>
              </a:rPr>
              <a:t>v1 / v2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29016" y="4379976"/>
            <a:ext cx="128015" cy="0"/>
          </a:xfrm>
          <a:prstGeom prst="line">
            <a:avLst/>
          </a:prstGeom>
          <a:ln w="13970">
            <a:solidFill>
              <a:srgbClr val="1A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57031" y="4005072"/>
            <a:ext cx="832104" cy="74980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19" y="4114800"/>
            <a:ext cx="795528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Snippet hash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19" y="4361688"/>
            <a:ext cx="7955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1E1F32"/>
                </a:solidFill>
                <a:latin typeface="Aptos"/>
              </a:rPr>
              <a:t>SHA-256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089136" y="4379976"/>
            <a:ext cx="128016" cy="0"/>
          </a:xfrm>
          <a:prstGeom prst="line">
            <a:avLst/>
          </a:prstGeom>
          <a:ln w="13970">
            <a:solidFill>
              <a:srgbClr val="1A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217152" y="4005072"/>
            <a:ext cx="832104" cy="74980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4114800"/>
            <a:ext cx="795528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Embedding cache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361688"/>
            <a:ext cx="7955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1E1F32"/>
                </a:solidFill>
                <a:latin typeface="Aptos"/>
              </a:rPr>
              <a:t>reuse unchanged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049256" y="4379976"/>
            <a:ext cx="82296" cy="0"/>
          </a:xfrm>
          <a:prstGeom prst="line">
            <a:avLst/>
          </a:prstGeom>
          <a:ln w="13970">
            <a:solidFill>
              <a:srgbClr val="1A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0131552" y="4005072"/>
            <a:ext cx="795528" cy="74980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49840" y="4114800"/>
            <a:ext cx="758952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Version index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4361688"/>
            <a:ext cx="75895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1E1F32"/>
                </a:solidFill>
                <a:latin typeface="Aptos"/>
              </a:rPr>
              <a:t>query selected 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2631" y="4901184"/>
            <a:ext cx="352958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E1F32"/>
                </a:solidFill>
                <a:latin typeface="Aptos"/>
              </a:rPr>
              <a:t>Unchanged snippets → reuse cached embedding
Changed / new snippets → encode only those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Demo &amp;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Recorded demo: actual query → ranked code → local latency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98448"/>
            <a:ext cx="6720840" cy="4892040"/>
          </a:xfrm>
          <a:prstGeom prst="roundRect">
            <a:avLst>
              <a:gd name="adj" fmla="val 8000"/>
            </a:avLst>
          </a:prstGeom>
          <a:solidFill>
            <a:srgbClr val="1D1C31"/>
          </a:solidFill>
          <a:ln w="10160">
            <a:solidFill>
              <a:srgbClr val="1D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1554480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34324E"/>
          </a:solidFill>
          <a:ln w="6350">
            <a:solidFill>
              <a:srgbClr val="34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72768"/>
            <a:ext cx="132588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90" b="1" i="0">
                <a:solidFill>
                  <a:srgbClr val="FFFFFF"/>
                </a:solidFill>
                <a:latin typeface="Aptos"/>
              </a:rPr>
              <a:t>LIVE DEMO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75104"/>
            <a:ext cx="877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A1E9E2"/>
                </a:solidFill>
                <a:latin typeface="Aptos"/>
              </a:rPr>
              <a:t>QUERY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0280"/>
            <a:ext cx="5166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Aptos"/>
              </a:rPr>
              <a:t>How is the input validated?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06624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1" i="0">
                <a:solidFill>
                  <a:srgbClr val="DBCBFF"/>
                </a:solidFill>
                <a:latin typeface="Aptos Mono"/>
              </a:rPr>
              <a:t>#1  validate_input(s)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054096"/>
            <a:ext cx="507492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8F3"/>
                </a:solidFill>
                <a:latin typeface="Aptos Mono"/>
              </a:rPr>
              <a:t>if not s or not s.strip():
    raise ValueError('input cannot be empty')
return s.strip()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" y="3904487"/>
            <a:ext cx="6035040" cy="0"/>
          </a:xfrm>
          <a:prstGeom prst="line">
            <a:avLst/>
          </a:prstGeom>
          <a:ln w="10160">
            <a:solidFill>
              <a:srgbClr val="474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7552" y="4123944"/>
            <a:ext cx="877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A1E9E2"/>
                </a:solidFill>
                <a:latin typeface="Aptos"/>
              </a:rPr>
              <a:t>QUERY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389120"/>
            <a:ext cx="571500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70" b="1" i="0">
                <a:solidFill>
                  <a:srgbClr val="FFFFFF"/>
                </a:solidFill>
                <a:latin typeface="Aptos"/>
              </a:rPr>
              <a:t>Which function converts spaces into underscores?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19472"/>
            <a:ext cx="3886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1" i="0">
                <a:solidFill>
                  <a:srgbClr val="DBCBFF"/>
                </a:solidFill>
                <a:latin typeface="Aptos Mono"/>
              </a:rPr>
              <a:t>#1  normalize(s)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294376"/>
            <a:ext cx="4480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6E8F3"/>
                </a:solidFill>
                <a:latin typeface="Aptos Mono"/>
              </a:rPr>
              <a:t>return s.replace(' ', '_')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797296"/>
            <a:ext cx="5806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C0C1D6"/>
                </a:solidFill>
                <a:latin typeface="Aptos"/>
              </a:rPr>
              <a:t>Observed dashboard retrieval: 7–17 ms on the 8-snippet local demo index*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298448"/>
            <a:ext cx="3584448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28431" y="1572768"/>
            <a:ext cx="1719072" cy="28346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1591056"/>
            <a:ext cx="17190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532D92"/>
                </a:solidFill>
                <a:latin typeface="Aptos"/>
              </a:rPr>
              <a:t>WHAT THE JUDGE SEES</a:t>
            </a:r>
          </a:p>
        </p:txBody>
      </p:sp>
      <p:sp>
        <p:nvSpPr>
          <p:cNvPr id="23" name="Oval 22"/>
          <p:cNvSpPr/>
          <p:nvPr/>
        </p:nvSpPr>
        <p:spPr>
          <a:xfrm>
            <a:off x="8083296" y="2103120"/>
            <a:ext cx="338328" cy="338328"/>
          </a:xfrm>
          <a:prstGeom prst="ellipse">
            <a:avLst/>
          </a:prstGeom>
          <a:solidFill>
            <a:srgbClr val="1A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3296" y="2112263"/>
            <a:ext cx="3383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093976"/>
            <a:ext cx="22402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1E1F32"/>
                </a:solidFill>
                <a:latin typeface="Aptos"/>
              </a:rPr>
              <a:t>Enter a natural-language query</a:t>
            </a:r>
          </a:p>
        </p:txBody>
      </p:sp>
      <p:sp>
        <p:nvSpPr>
          <p:cNvPr id="26" name="Oval 25"/>
          <p:cNvSpPr/>
          <p:nvPr/>
        </p:nvSpPr>
        <p:spPr>
          <a:xfrm>
            <a:off x="8083296" y="2816352"/>
            <a:ext cx="338328" cy="338328"/>
          </a:xfrm>
          <a:prstGeom prst="ellipse">
            <a:avLst/>
          </a:prstGeom>
          <a:solidFill>
            <a:srgbClr val="1A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3296" y="2825496"/>
            <a:ext cx="3383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807208"/>
            <a:ext cx="22402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1E1F32"/>
                </a:solidFill>
                <a:latin typeface="Aptos"/>
              </a:rPr>
              <a:t>Retrieve existing code</a:t>
            </a:r>
          </a:p>
        </p:txBody>
      </p:sp>
      <p:sp>
        <p:nvSpPr>
          <p:cNvPr id="29" name="Oval 28"/>
          <p:cNvSpPr/>
          <p:nvPr/>
        </p:nvSpPr>
        <p:spPr>
          <a:xfrm>
            <a:off x="8083296" y="3529584"/>
            <a:ext cx="338328" cy="338328"/>
          </a:xfrm>
          <a:prstGeom prst="ellipse">
            <a:avLst/>
          </a:prstGeom>
          <a:solidFill>
            <a:srgbClr val="1A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3296" y="3538727"/>
            <a:ext cx="3383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3520440"/>
            <a:ext cx="22402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1E1F32"/>
                </a:solidFill>
                <a:latin typeface="Aptos"/>
              </a:rPr>
              <a:t>Inspect ranked candidates</a:t>
            </a:r>
          </a:p>
        </p:txBody>
      </p:sp>
      <p:sp>
        <p:nvSpPr>
          <p:cNvPr id="32" name="Oval 31"/>
          <p:cNvSpPr/>
          <p:nvPr/>
        </p:nvSpPr>
        <p:spPr>
          <a:xfrm>
            <a:off x="8083296" y="4242816"/>
            <a:ext cx="338328" cy="338328"/>
          </a:xfrm>
          <a:prstGeom prst="ellipse">
            <a:avLst/>
          </a:prstGeom>
          <a:solidFill>
            <a:srgbClr val="1A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3296" y="4251959"/>
            <a:ext cx="3383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4233672"/>
            <a:ext cx="22402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 i="0">
                <a:solidFill>
                  <a:srgbClr val="1E1F32"/>
                </a:solidFill>
                <a:latin typeface="Aptos"/>
              </a:rPr>
              <a:t>Verify retrieval latency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5056632"/>
            <a:ext cx="2990088" cy="75895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5230368"/>
            <a:ext cx="2615184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70" b="1" i="0">
                <a:solidFill>
                  <a:srgbClr val="1AA0A0"/>
                </a:solidFill>
                <a:latin typeface="Aptos"/>
              </a:rPr>
              <a:t>Demo is retrieval-only.
No generated answer is returned.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943600"/>
            <a:ext cx="29900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1">
                <a:solidFill>
                  <a:srgbClr val="66697D"/>
                </a:solidFill>
                <a:latin typeface="Aptos"/>
              </a:rPr>
              <a:t>* local demo timing, not full AppsRetrieval benchmark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Tools and Tech Stack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Versions below match the environment used for the successful benchmark run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5331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153619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703FBE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47218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486909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Core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80744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65392" y="153619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55448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1AA0A0"/>
                </a:solidFill>
                <a:latin typeface="Aptos"/>
              </a:rPr>
              <a:t>Sentence 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147218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6.1.0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8884" y="1481328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Embedding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40487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" y="258775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260604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703FBE"/>
                </a:solidFill>
                <a:latin typeface="Aptos"/>
              </a:rPr>
              <a:t>all-MiniLM-L6-v2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52374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384-dim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546069"/>
            <a:ext cx="1993392" cy="2062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IN" sz="1080" b="0" i="0" dirty="0">
                <a:solidFill>
                  <a:srgbClr val="66697D"/>
                </a:solidFill>
                <a:latin typeface="Aptos"/>
              </a:rPr>
              <a:t>      </a:t>
            </a:r>
            <a:r>
              <a:rPr sz="1080" b="0" i="0" dirty="0">
                <a:solidFill>
                  <a:srgbClr val="66697D"/>
                </a:solidFill>
                <a:latin typeface="Aptos"/>
              </a:rPr>
              <a:t>Dense embedding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40487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65392" y="258775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60604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1AA0A0"/>
                </a:solidFill>
                <a:latin typeface="Aptos"/>
              </a:rPr>
              <a:t>MTEB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52374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2.21.6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537142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Official retrieval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45643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87552" y="363931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365760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703FBE"/>
                </a:solidFill>
                <a:latin typeface="Aptos"/>
              </a:rPr>
              <a:t>PyTorch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3575303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2.14.0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585318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Model execution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45643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65392" y="363931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3657600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1AA0A0"/>
                </a:solidFill>
                <a:latin typeface="Aptos"/>
              </a:rPr>
              <a:t>NumPy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3575303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2.5.3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5079" y="3585318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Vector fusion / similarity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50799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87552" y="469087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4709159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703FBE"/>
                </a:solidFill>
                <a:latin typeface="Aptos"/>
              </a:rPr>
              <a:t>Streamlit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462686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1.64.0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4654296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Judge-facing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507992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65392" y="4690872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4709159"/>
            <a:ext cx="192024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1AA0A0"/>
                </a:solidFill>
                <a:latin typeface="Aptos"/>
              </a:rPr>
              <a:t>ONNX Runtime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4626864"/>
            <a:ext cx="1078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1F32"/>
                </a:solidFill>
                <a:latin typeface="Aptos"/>
              </a:rPr>
              <a:t>1.30.0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7706" y="4626864"/>
            <a:ext cx="199339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 dirty="0">
                <a:solidFill>
                  <a:srgbClr val="66697D"/>
                </a:solidFill>
                <a:latin typeface="Aptos"/>
              </a:rPr>
              <a:t>CPU-oriented demo inference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" y="5623560"/>
            <a:ext cx="10442448" cy="50292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5779008"/>
            <a:ext cx="1001268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1E1F32"/>
                </a:solidFill>
                <a:latin typeface="Aptos"/>
              </a:rPr>
              <a:t>Design principle: compact dense retrieval, CPU-first execution, no generative LLM or LLM reranking in the retrieval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Impact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Where focused code retrieval can support developer workflows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417320"/>
            <a:ext cx="513892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2416" y="1618488"/>
            <a:ext cx="411480" cy="411480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636776"/>
            <a:ext cx="411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91056"/>
            <a:ext cx="3886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40" b="1" i="0">
                <a:solidFill>
                  <a:srgbClr val="1E1F32"/>
                </a:solidFill>
                <a:latin typeface="Aptos"/>
              </a:rPr>
              <a:t>Codebase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9384"/>
            <a:ext cx="3840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0" i="0">
                <a:solidFill>
                  <a:srgbClr val="66697D"/>
                </a:solidFill>
                <a:latin typeface="Aptos"/>
              </a:rPr>
              <a:t>Locate relevant functions before manually scanning a large repository.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13892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6248" y="1618488"/>
            <a:ext cx="411480" cy="411480"/>
          </a:xfrm>
          <a:prstGeom prst="ellipse">
            <a:avLst/>
          </a:prstGeom>
          <a:solidFill>
            <a:srgbClr val="1A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636776"/>
            <a:ext cx="411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591056"/>
            <a:ext cx="3886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40" b="1" i="0">
                <a:solidFill>
                  <a:srgbClr val="1E1F32"/>
                </a:solidFill>
                <a:latin typeface="Aptos"/>
              </a:rPr>
              <a:t>Developer RAG /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929384"/>
            <a:ext cx="3840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0" i="0">
                <a:solidFill>
                  <a:srgbClr val="66697D"/>
                </a:solidFill>
                <a:latin typeface="Aptos"/>
              </a:rPr>
              <a:t>Use retrieval as the grounding layer before downstream reasoning or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2990088"/>
            <a:ext cx="513892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416" y="3191256"/>
            <a:ext cx="411480" cy="411480"/>
          </a:xfrm>
          <a:prstGeom prst="ellipse">
            <a:avLst/>
          </a:prstGeom>
          <a:solidFill>
            <a:srgbClr val="3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3209544"/>
            <a:ext cx="411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63824"/>
            <a:ext cx="3886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40" b="1" i="0">
                <a:solidFill>
                  <a:srgbClr val="1E1F32"/>
                </a:solidFill>
                <a:latin typeface="Aptos"/>
              </a:rPr>
              <a:t>Bug 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502152"/>
            <a:ext cx="3840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0" i="0">
                <a:solidFill>
                  <a:srgbClr val="66697D"/>
                </a:solidFill>
                <a:latin typeface="Aptos"/>
              </a:rPr>
              <a:t>Find existing validation, parsing or helper implementations related to a problem statement.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990088"/>
            <a:ext cx="513892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56248" y="3191256"/>
            <a:ext cx="411480" cy="411480"/>
          </a:xfrm>
          <a:prstGeom prst="ellipse">
            <a:avLst/>
          </a:prstGeom>
          <a:solidFill>
            <a:srgbClr val="703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3209544"/>
            <a:ext cx="411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163824"/>
            <a:ext cx="3886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40" b="1" i="0">
                <a:solidFill>
                  <a:srgbClr val="1E1F32"/>
                </a:solidFill>
                <a:latin typeface="Aptos"/>
              </a:rPr>
              <a:t>Feature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502152"/>
            <a:ext cx="3840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0" i="0">
                <a:solidFill>
                  <a:srgbClr val="66697D"/>
                </a:solidFill>
                <a:latin typeface="Aptos"/>
              </a:rPr>
              <a:t>Retrieve prior implementations that match a requested behavior.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" y="5074920"/>
            <a:ext cx="10579608" cy="87782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762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78992" y="5294376"/>
            <a:ext cx="1252728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312664"/>
            <a:ext cx="1252728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1AA0A0"/>
                </a:solidFill>
                <a:latin typeface="Aptos"/>
              </a:rPr>
              <a:t>PRACTICAL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5248656"/>
            <a:ext cx="847648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10" b="1" i="0">
                <a:solidFill>
                  <a:srgbClr val="1E1F32"/>
                </a:solidFill>
                <a:latin typeface="Aptos"/>
              </a:rPr>
              <a:t>Narrow a large code library to the most relevant existing snippets before humans or downstream agentic components inspect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Innovation, Results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What we implemented, what improved, and what remains open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298448"/>
            <a:ext cx="3072384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1554480"/>
            <a:ext cx="1060704" cy="28346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72768"/>
            <a:ext cx="10607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AA0A0"/>
                </a:solidFill>
                <a:latin typeface="Aptos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1993392"/>
            <a:ext cx="356616" cy="265176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011680"/>
            <a:ext cx="356616" cy="246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532D9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75104"/>
            <a:ext cx="2084831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70" b="1" i="0">
                <a:solidFill>
                  <a:srgbClr val="1E1F32"/>
                </a:solidFill>
                <a:latin typeface="Aptos"/>
              </a:rPr>
              <a:t>Multi-view 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249424"/>
            <a:ext cx="20116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6697D"/>
                </a:solidFill>
                <a:latin typeface="Aptos"/>
              </a:rPr>
              <a:t>Core / Input / Output query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2926080"/>
            <a:ext cx="356616" cy="265176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944368"/>
            <a:ext cx="356616" cy="246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532D9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07792"/>
            <a:ext cx="2084831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70" b="1" i="0">
                <a:solidFill>
                  <a:srgbClr val="1E1F32"/>
                </a:solidFill>
                <a:latin typeface="Aptos"/>
              </a:rPr>
              <a:t>Weighted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82112"/>
            <a:ext cx="20116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6697D"/>
                </a:solidFill>
                <a:latin typeface="Aptos"/>
              </a:rPr>
              <a:t>0.50 / 0.25 / 0.25, selected on training data and frozen for 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858768"/>
            <a:ext cx="356616" cy="265176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77056"/>
            <a:ext cx="356616" cy="246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532D9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840480"/>
            <a:ext cx="2084831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70" b="1" i="0">
                <a:solidFill>
                  <a:srgbClr val="1E1F32"/>
                </a:solidFill>
                <a:latin typeface="Aptos"/>
              </a:rPr>
              <a:t>Version-aware 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4800"/>
            <a:ext cx="20116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6697D"/>
                </a:solidFill>
                <a:latin typeface="Aptos"/>
              </a:rPr>
              <a:t>SHA-256 snippet hashes + reusable embedding cache + per-version indexes.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791456"/>
            <a:ext cx="356616" cy="265176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809744"/>
            <a:ext cx="356616" cy="246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532D9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73168"/>
            <a:ext cx="2084831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70" b="1" i="0">
                <a:solidFill>
                  <a:srgbClr val="1E1F32"/>
                </a:solidFill>
                <a:latin typeface="Aptos"/>
              </a:rPr>
              <a:t>Retrieval-only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047488"/>
            <a:ext cx="201168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6697D"/>
                </a:solidFill>
                <a:latin typeface="Aptos"/>
              </a:rPr>
              <a:t>No generated answer or LLM reranking in the final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1298448"/>
            <a:ext cx="3401568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15968" y="1554480"/>
            <a:ext cx="1627632" cy="28346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5968" y="1572768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532D92"/>
                </a:solidFill>
                <a:latin typeface="Aptos"/>
              </a:rPr>
              <a:t>OFFICIAL MTEB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1993392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 i="0">
                <a:solidFill>
                  <a:srgbClr val="1E1F32"/>
                </a:solidFill>
                <a:latin typeface="Aptos"/>
              </a:rPr>
              <a:t>AppsRetrieval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286000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6697D"/>
                </a:solidFill>
                <a:latin typeface="Aptos"/>
              </a:rPr>
              <a:t>NDCG@10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2633472"/>
            <a:ext cx="1316736" cy="932688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762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2834640"/>
            <a:ext cx="111556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E1F32"/>
                </a:solidFill>
                <a:latin typeface="Aptos Display"/>
              </a:rPr>
              <a:t>0.0660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4" y="317296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66697D"/>
                </a:solidFill>
                <a:latin typeface="Aptos"/>
              </a:rPr>
              <a:t>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97296" y="2633472"/>
            <a:ext cx="1371600" cy="932688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762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0448" y="2834640"/>
            <a:ext cx="12252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532D92"/>
                </a:solidFill>
                <a:latin typeface="Aptos Display"/>
              </a:rPr>
              <a:t>0.07487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172968"/>
            <a:ext cx="12070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532D92"/>
                </a:solidFill>
                <a:latin typeface="Aptos"/>
              </a:rPr>
              <a:t>final method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52544" y="3867912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17136" y="4050791"/>
            <a:ext cx="250545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A0A0"/>
                </a:solidFill>
                <a:latin typeface="Aptos"/>
              </a:rPr>
              <a:t>≈ +13.44% relative lift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6" y="4736592"/>
            <a:ext cx="28895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66697D"/>
                </a:solidFill>
                <a:latin typeface="Aptos"/>
              </a:rPr>
              <a:t>3,765 test queries  •  8,765 corpus snippets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5175504"/>
            <a:ext cx="28895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0" i="0">
                <a:solidFill>
                  <a:srgbClr val="66697D"/>
                </a:solidFill>
                <a:latin typeface="Aptos"/>
              </a:rPr>
              <a:t>The 0.07487 score is the official benchmark result.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08392" y="1298448"/>
            <a:ext cx="3648456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55279" y="1554480"/>
            <a:ext cx="2084831" cy="283464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79" y="1572768"/>
            <a:ext cx="2084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1AA0A0"/>
                </a:solidFill>
                <a:latin typeface="Aptos"/>
              </a:rPr>
              <a:t>P1 VERIFICATION  •  LOCAL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1993392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1" i="0">
                <a:solidFill>
                  <a:srgbClr val="1E1F32"/>
                </a:solidFill>
                <a:latin typeface="Aptos"/>
              </a:rPr>
              <a:t>Version 1 — first build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0112" y="1965960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40112" y="1984248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66697D"/>
                </a:solidFill>
                <a:latin typeface="Aptos"/>
              </a:rPr>
              <a:t>8 new / 0 reused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2432304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1" i="0">
                <a:solidFill>
                  <a:srgbClr val="1E1F32"/>
                </a:solidFill>
                <a:latin typeface="Aptos"/>
              </a:rPr>
              <a:t>Version 1 — rebuild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40112" y="2404872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40112" y="2423160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0 new / 8 reused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2871216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10" b="1" i="0">
                <a:solidFill>
                  <a:srgbClr val="1E1F32"/>
                </a:solidFill>
                <a:latin typeface="Aptos"/>
              </a:rPr>
              <a:t>Version 2 — one code change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40112" y="2843784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40112" y="2862072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 i="0">
                <a:solidFill>
                  <a:srgbClr val="1AA0A0"/>
                </a:solidFill>
                <a:latin typeface="Aptos"/>
              </a:rPr>
              <a:t>1 new / 7 reused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73568" y="3273552"/>
            <a:ext cx="3127248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955279" y="3493008"/>
            <a:ext cx="1563624" cy="283464"/>
          </a:xfrm>
          <a:prstGeom prst="roundRect">
            <a:avLst>
              <a:gd name="adj" fmla="val 8000"/>
            </a:avLst>
          </a:prstGeom>
          <a:solidFill>
            <a:srgbClr val="FCF1E0"/>
          </a:solidFill>
          <a:ln w="6350"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955279" y="3511296"/>
            <a:ext cx="156362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4842A"/>
                </a:solidFill>
                <a:latin typeface="Aptos"/>
              </a:rPr>
              <a:t>CURRENT LIMITATIONS</a:t>
            </a:r>
          </a:p>
        </p:txBody>
      </p:sp>
      <p:sp>
        <p:nvSpPr>
          <p:cNvPr id="56" name="Oval 55"/>
          <p:cNvSpPr/>
          <p:nvPr/>
        </p:nvSpPr>
        <p:spPr>
          <a:xfrm>
            <a:off x="7973568" y="3950208"/>
            <a:ext cx="109728" cy="109728"/>
          </a:xfrm>
          <a:prstGeom prst="ellipse">
            <a:avLst/>
          </a:prstGeom>
          <a:solidFill>
            <a:srgbClr val="D4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74736" y="3886200"/>
            <a:ext cx="274320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1F32"/>
                </a:solidFill>
                <a:latin typeface="Aptos"/>
              </a:rPr>
              <a:t>Heuristic query decomposition.</a:t>
            </a:r>
          </a:p>
        </p:txBody>
      </p:sp>
      <p:sp>
        <p:nvSpPr>
          <p:cNvPr id="58" name="Oval 57"/>
          <p:cNvSpPr/>
          <p:nvPr/>
        </p:nvSpPr>
        <p:spPr>
          <a:xfrm>
            <a:off x="7973568" y="4389120"/>
            <a:ext cx="109728" cy="109728"/>
          </a:xfrm>
          <a:prstGeom prst="ellipse">
            <a:avLst/>
          </a:prstGeom>
          <a:solidFill>
            <a:srgbClr val="D4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74736" y="4325112"/>
            <a:ext cx="274320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1F32"/>
                </a:solidFill>
                <a:latin typeface="Aptos"/>
              </a:rPr>
              <a:t>Single dense representation per code snippet.</a:t>
            </a:r>
          </a:p>
        </p:txBody>
      </p:sp>
      <p:sp>
        <p:nvSpPr>
          <p:cNvPr id="60" name="Oval 59"/>
          <p:cNvSpPr/>
          <p:nvPr/>
        </p:nvSpPr>
        <p:spPr>
          <a:xfrm>
            <a:off x="7973568" y="4828032"/>
            <a:ext cx="109728" cy="109728"/>
          </a:xfrm>
          <a:prstGeom prst="ellipse">
            <a:avLst/>
          </a:prstGeom>
          <a:solidFill>
            <a:srgbClr val="D4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74736" y="4764024"/>
            <a:ext cx="274320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1F32"/>
                </a:solidFill>
                <a:latin typeface="Aptos"/>
              </a:rPr>
              <a:t>No explicit AST / call-graph / data-flow signals in final path.</a:t>
            </a:r>
          </a:p>
        </p:txBody>
      </p:sp>
      <p:sp>
        <p:nvSpPr>
          <p:cNvPr id="62" name="Oval 61"/>
          <p:cNvSpPr/>
          <p:nvPr/>
        </p:nvSpPr>
        <p:spPr>
          <a:xfrm>
            <a:off x="7973568" y="5266944"/>
            <a:ext cx="109728" cy="109728"/>
          </a:xfrm>
          <a:prstGeom prst="ellipse">
            <a:avLst/>
          </a:prstGeom>
          <a:solidFill>
            <a:srgbClr val="D4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74736" y="5202936"/>
            <a:ext cx="274320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1F32"/>
                </a:solidFill>
                <a:latin typeface="Aptos"/>
              </a:rPr>
              <a:t>P1 version test is local; it is not part of the 0.07487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P1 is implemented; the next step is broader version evolution and deeper code 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307592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762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4128" y="1481328"/>
            <a:ext cx="576072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99616"/>
            <a:ext cx="5760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1AA0A0"/>
                </a:solidFill>
                <a:latin typeface="Aptos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426464"/>
            <a:ext cx="9098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E1F32"/>
                </a:solidFill>
                <a:latin typeface="Aptos"/>
              </a:rPr>
              <a:t>P1 version-aware retrieval: unchanged embeddings are reused; changed snippets are re-embedded into a version-specific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267712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69848" y="2468880"/>
            <a:ext cx="41148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487168"/>
            <a:ext cx="41148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703FBE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359152"/>
            <a:ext cx="2971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1F32"/>
                </a:solidFill>
                <a:latin typeface="Aptos"/>
              </a:rPr>
              <a:t>Evolutionary retrieval across 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359152"/>
            <a:ext cx="5925312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66697D"/>
                </a:solidFill>
                <a:latin typeface="Aptos"/>
              </a:rPr>
              <a:t>Retrieve how an implementation changes over time, not only within one selected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136391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9848" y="3337560"/>
            <a:ext cx="411480" cy="27432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355848"/>
            <a:ext cx="41148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1AA0A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784" y="3227832"/>
            <a:ext cx="2971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1F32"/>
                </a:solidFill>
                <a:latin typeface="Aptos"/>
              </a:rPr>
              <a:t>Adaptive evidence weighting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227832"/>
            <a:ext cx="5925312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66697D"/>
                </a:solidFill>
                <a:latin typeface="Aptos"/>
              </a:rPr>
              <a:t>Learn when Core, Input or Output evidence should matter more for a given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005072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9848" y="4206240"/>
            <a:ext cx="411480" cy="274320"/>
          </a:xfrm>
          <a:prstGeom prst="roundRect">
            <a:avLst>
              <a:gd name="adj" fmla="val 8000"/>
            </a:avLst>
          </a:prstGeom>
          <a:solidFill>
            <a:srgbClr val="E9EFFD"/>
          </a:solidFill>
          <a:ln w="6350"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4224527"/>
            <a:ext cx="41148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3A5CC8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096511"/>
            <a:ext cx="2971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1F32"/>
                </a:solidFill>
                <a:latin typeface="Aptos"/>
              </a:rPr>
              <a:t>Structural code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4096511"/>
            <a:ext cx="5925312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66697D"/>
                </a:solidFill>
                <a:latin typeface="Aptos"/>
              </a:rPr>
              <a:t>Add AST, call-graph or data-flow evidence alongside dense semantics.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" y="4873752"/>
            <a:ext cx="103327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69848" y="5074920"/>
            <a:ext cx="411480" cy="274320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" y="5093207"/>
            <a:ext cx="41148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 i="0">
                <a:solidFill>
                  <a:srgbClr val="703FB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965192"/>
            <a:ext cx="2971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1F32"/>
                </a:solidFill>
                <a:latin typeface="Aptos"/>
              </a:rPr>
              <a:t>Selective multi-stage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4965192"/>
            <a:ext cx="5925312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66697D"/>
                </a:solidFill>
                <a:latin typeface="Aptos"/>
              </a:rPr>
              <a:t>Escalate only hard or low-confidence queries to a second retrieval stage.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" y="5833872"/>
            <a:ext cx="10332720" cy="256032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5879592"/>
            <a:ext cx="100401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66697D"/>
                </a:solidFill>
                <a:latin typeface="Aptos"/>
              </a:rPr>
              <a:t>Future extensions are not included in the reported 0.07487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What we built beyond one-shot dense retrieval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25880"/>
            <a:ext cx="52303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303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1609344"/>
            <a:ext cx="2331720" cy="283464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627632"/>
            <a:ext cx="23317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66697D"/>
                </a:solidFill>
                <a:latin typeface="Aptos"/>
              </a:rPr>
              <a:t>CONVENTIONAL ONE-SHOT DENSE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609344"/>
            <a:ext cx="2404872" cy="28346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27632"/>
            <a:ext cx="24048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 i="0">
                <a:solidFill>
                  <a:srgbClr val="532D92"/>
                </a:solidFill>
                <a:latin typeface="Aptos"/>
              </a:rPr>
              <a:t>OUR PROBLEM-FOCUSED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14884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66697D"/>
                </a:solidFill>
                <a:latin typeface="Aptos"/>
              </a:rPr>
              <a:t>Query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30552"/>
            <a:ext cx="3182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Whole programming problem → one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88036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66697D"/>
                </a:solidFill>
                <a:latin typeface="Aptos"/>
              </a:rPr>
              <a:t>Code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62072"/>
            <a:ext cx="3182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One static corpus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61188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66697D"/>
                </a:solidFill>
                <a:latin typeface="Aptos"/>
              </a:rPr>
              <a:t>Change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93592"/>
            <a:ext cx="3182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Re-index strategy not version-specific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434340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66697D"/>
                </a:solidFill>
                <a:latin typeface="Aptos"/>
              </a:rPr>
              <a:t>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325112"/>
            <a:ext cx="31821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Similarity → ranked snippets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14884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532D92"/>
                </a:solidFill>
                <a:latin typeface="Aptos"/>
              </a:rPr>
              <a:t>Query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2130552"/>
            <a:ext cx="3154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Core + Input + Output → weighted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88036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532D92"/>
                </a:solidFill>
                <a:latin typeface="Aptos"/>
              </a:rPr>
              <a:t>Code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862072"/>
            <a:ext cx="3154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Per-version index + SHA-256 snippet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1188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532D92"/>
                </a:solidFill>
                <a:latin typeface="Aptos"/>
              </a:rPr>
              <a:t>Change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3593592"/>
            <a:ext cx="3154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Reuse unchanged embeddings; encode only new/changed snippets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343400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532D92"/>
                </a:solidFill>
                <a:latin typeface="Aptos"/>
              </a:rPr>
              <a:t>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4325112"/>
            <a:ext cx="3154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1E1F32"/>
                </a:solidFill>
                <a:latin typeface="Aptos"/>
              </a:rPr>
              <a:t>Similarity → ranked snippets for selected version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4892040"/>
            <a:ext cx="4754880" cy="329184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6350">
            <a:solidFill>
              <a:srgbClr val="F2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" y="4974336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 i="0">
                <a:solidFill>
                  <a:srgbClr val="66697D"/>
                </a:solidFill>
                <a:latin typeface="Aptos"/>
              </a:rPr>
              <a:t>Single representation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4892040"/>
            <a:ext cx="4517136" cy="32918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974336"/>
            <a:ext cx="451713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 i="0">
                <a:solidFill>
                  <a:srgbClr val="532D92"/>
                </a:solidFill>
                <a:latin typeface="Aptos"/>
              </a:rPr>
              <a:t>CORE 0.50  •  INPUT 0.25  •  OUTPUT 0.25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" y="5715000"/>
            <a:ext cx="10387584" cy="384048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5806440"/>
            <a:ext cx="1007668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90" b="1" i="0">
                <a:solidFill>
                  <a:srgbClr val="1AA0A0"/>
                </a:solidFill>
                <a:latin typeface="Aptos"/>
              </a:rPr>
              <a:t>Evidence: official NDCG@10 0.07487 vs 0.0660 baseline  •  P1 local test: 7 reused + 1 changed on v2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8356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32D92"/>
                </a:solidFill>
                <a:latin typeface="Aptos Display"/>
              </a:rPr>
              <a:t>Checklist — Updated on Public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3564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6697D"/>
                </a:solidFill>
                <a:latin typeface="Aptos"/>
              </a:rPr>
              <a:t>Submission package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4824" y="6428232"/>
            <a:ext cx="10863072" cy="0"/>
          </a:xfrm>
          <a:prstGeom prst="line">
            <a:avLst/>
          </a:prstGeom>
          <a:ln w="10160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464808"/>
            <a:ext cx="76809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6697D"/>
                </a:solidFill>
                <a:latin typeface="Aptos"/>
              </a:rPr>
              <a:t>Team Rinita  •  Theme 01  •  Agentic Code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46520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6669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417320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1536192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1536192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Working prototype code — public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536192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55448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084832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2203704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221992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2203704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README with reproducible setup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203704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221992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2752344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2871215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2889503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2871215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Official AppsRetrieval result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871215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2889503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3419856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7552" y="3538728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3557016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3538728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Version-aware P1 implementation + test versions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538728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3557016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4087368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7552" y="4206240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4224527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9344" y="4206240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Demo video ≤ 5 minutes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4206240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4224527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4754880"/>
            <a:ext cx="1058875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87552" y="4873752"/>
            <a:ext cx="393192" cy="256032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4892040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532D92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9344" y="4873752"/>
            <a:ext cx="6903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i="0">
                <a:solidFill>
                  <a:srgbClr val="1E1F32"/>
                </a:solidFill>
                <a:latin typeface="Aptos"/>
              </a:rPr>
              <a:t>Presentation file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60" y="4873752"/>
            <a:ext cx="1481328" cy="256032"/>
          </a:xfrm>
          <a:prstGeom prst="roundRect">
            <a:avLst>
              <a:gd name="adj" fmla="val 8000"/>
            </a:avLst>
          </a:prstGeom>
          <a:solidFill>
            <a:srgbClr val="E6F6EE"/>
          </a:solidFill>
          <a:ln w="6350">
            <a:solidFill>
              <a:srgbClr val="E6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489204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229664"/>
                </a:solidFill>
                <a:latin typeface="Aptos"/>
              </a:rPr>
              <a:t>READY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" y="5577840"/>
            <a:ext cx="10488168" cy="548640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635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" y="5733288"/>
            <a:ext cx="53035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AA0A0"/>
                </a:solidFill>
                <a:latin typeface="Aptos"/>
              </a:rPr>
              <a:t>GitHub</a:t>
            </a:r>
          </a:p>
        </p:txBody>
      </p:sp>
      <p:sp>
        <p:nvSpPr>
          <p:cNvPr id="45" name="TextBox 44">
            <a:hlinkClick r:id="rId2"/>
          </p:cNvPr>
          <p:cNvSpPr txBox="1"/>
          <p:nvPr/>
        </p:nvSpPr>
        <p:spPr>
          <a:xfrm>
            <a:off x="1773936" y="5733288"/>
            <a:ext cx="9098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 dirty="0">
                <a:solidFill>
                  <a:srgbClr val="532D92"/>
                </a:solidFill>
                <a:latin typeface="Aptos"/>
              </a:rPr>
              <a:t>github.com/</a:t>
            </a:r>
            <a:r>
              <a:rPr sz="1040" b="1" i="0" dirty="0" err="1">
                <a:solidFill>
                  <a:srgbClr val="532D92"/>
                </a:solidFill>
                <a:latin typeface="Aptos"/>
              </a:rPr>
              <a:t>Nedhra</a:t>
            </a:r>
            <a:r>
              <a:rPr sz="1040" b="1" i="0" dirty="0">
                <a:solidFill>
                  <a:srgbClr val="532D92"/>
                </a:solidFill>
                <a:latin typeface="Aptos"/>
              </a:rPr>
              <a:t>-S/prism-agentic-code-retrieval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74519" y="1234440"/>
            <a:ext cx="84582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73752" y="1668780"/>
            <a:ext cx="2788920" cy="283464"/>
          </a:xfrm>
          <a:prstGeom prst="roundRect">
            <a:avLst>
              <a:gd name="adj" fmla="val 8000"/>
            </a:avLst>
          </a:prstGeom>
          <a:solidFill>
            <a:srgbClr val="EFE9FC"/>
          </a:solidFill>
          <a:ln w="6350">
            <a:solidFill>
              <a:srgbClr val="EF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73752" y="1709928"/>
            <a:ext cx="27889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 dirty="0">
                <a:solidFill>
                  <a:srgbClr val="532D92"/>
                </a:solidFill>
                <a:latin typeface="Aptos"/>
              </a:rPr>
              <a:t>TEAM RINITA  •  THEME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1568" y="2176272"/>
            <a:ext cx="53949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532D92"/>
                </a:solidFill>
                <a:latin typeface="Aptos Display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7020" y="2776025"/>
            <a:ext cx="6537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dirty="0"/>
              <a:t>CodeLens-R</a:t>
            </a:r>
            <a:br>
              <a:rPr lang="en-IN" sz="2400" dirty="0"/>
            </a:br>
            <a:r>
              <a:rPr lang="en-IN" sz="2400" i="1" dirty="0"/>
              <a:t>Version-Aware Multi-View Code Retrieval</a:t>
            </a:r>
            <a:endParaRPr sz="2400" b="1" i="0" dirty="0">
              <a:solidFill>
                <a:srgbClr val="1E1F3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3574328"/>
            <a:ext cx="660196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66697D"/>
                </a:solidFill>
                <a:latin typeface="Aptos"/>
              </a:rPr>
              <a:t>Natural language  →  focused query views  →  ranked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840480"/>
            <a:ext cx="6080760" cy="530352"/>
          </a:xfrm>
          <a:prstGeom prst="roundRect">
            <a:avLst>
              <a:gd name="adj" fmla="val 8000"/>
            </a:avLst>
          </a:prstGeom>
          <a:solidFill>
            <a:srgbClr val="E5F6F5"/>
          </a:solidFill>
          <a:ln w="762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3986784"/>
            <a:ext cx="58430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 i="0">
                <a:solidFill>
                  <a:srgbClr val="1AA0A0"/>
                </a:solidFill>
                <a:latin typeface="Aptos"/>
              </a:rPr>
              <a:t>MTEB AppsRetrieval NDCG@10 = 0.07487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2880360" y="4617720"/>
            <a:ext cx="6400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40" b="1" i="0">
                <a:solidFill>
                  <a:srgbClr val="532D92"/>
                </a:solidFill>
                <a:latin typeface="Aptos"/>
              </a:rPr>
              <a:t>github.com/Nedhra-S/prism-agentic-code-retrieval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5513832"/>
            <a:ext cx="7223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6697D"/>
                </a:solidFill>
                <a:latin typeface="Aptos"/>
              </a:rPr>
              <a:t>SAMSUNG PRISM  •  Generative AI Hackathon  •  3rd Edition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1391</Words>
  <Application>Microsoft Office PowerPoint</Application>
  <PresentationFormat>Widescreen</PresentationFormat>
  <Paragraphs>282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Problem-Focused Multi-View Code Retrieval — Team Rinita</dc:title>
  <dc:subject>Samsung PRISM Generative AI Hackathon 3rd Edition — Theme 01</dc:subject>
  <dc:creator>Team Rinita, VIT</dc:creator>
  <cp:keywords>PRISM, code retrieval, AppsRetrieval, multi-view retrieval, version-aware indexing</cp:keywords>
  <dc:description>generated using python-pptx</dc:description>
  <cp:lastModifiedBy>Nedhraa Subbaraj</cp:lastModifiedBy>
  <cp:revision>6</cp:revision>
  <dcterms:created xsi:type="dcterms:W3CDTF">2013-01-27T09:14:16Z</dcterms:created>
  <dcterms:modified xsi:type="dcterms:W3CDTF">2026-09-30T15:06:26Z</dcterms:modified>
  <cp:category/>
</cp:coreProperties>
</file>